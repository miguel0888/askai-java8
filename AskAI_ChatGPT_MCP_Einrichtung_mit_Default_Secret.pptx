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1024128"/>
            <a:ext cx="5527548" cy="539496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0780" y="1024128"/>
            <a:ext cx="5527548" cy="5394960"/>
          </a:xfrm>
          <a:prstGeom prst="roundRect">
            <a:avLst>
              <a:gd name="adj" fmla="val 8000"/>
            </a:avLst>
          </a:prstGeom>
          <a:solidFill>
            <a:srgbClr val="1D222D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173736"/>
            <a:ext cx="59436" cy="521207"/>
          </a:xfrm>
          <a:prstGeom prst="rect">
            <a:avLst/>
          </a:prstGeom>
          <a:solidFill>
            <a:srgbClr val="8F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46304"/>
            <a:ext cx="9966960" cy="38404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FAFBFD"/>
                </a:solidFill>
                <a:latin typeface="Aptos"/>
              </a:rPr>
              <a:t>AskAI – Plugin-Verwaltung öffnen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48640"/>
            <a:ext cx="9784080" cy="24688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B7C2D2"/>
                </a:solidFill>
                <a:latin typeface="Aptos"/>
              </a:rPr>
              <a:t>Testlauf mit dem funktionierenden AskAI-Connector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43616" y="265176"/>
            <a:ext cx="1051560" cy="320040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C98AB"/>
                </a:solidFill>
                <a:latin typeface="Aptos"/>
              </a:rPr>
              <a:t>01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33856"/>
            <a:ext cx="4297680" cy="237744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8AB"/>
                </a:solidFill>
                <a:latin typeface="Aptos"/>
              </a:rPr>
              <a:t>ORIGINAL-SCREENSHOT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956" y="1133856"/>
            <a:ext cx="4937760" cy="237744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8AB"/>
                </a:solidFill>
                <a:latin typeface="Aptos"/>
              </a:rPr>
              <a:t>KOPIERBARE EINSTELLUNGEN</a:t>
            </a:r>
          </a:p>
        </p:txBody>
      </p:sp>
      <p:pic>
        <p:nvPicPr>
          <p:cNvPr id="10" name="Picture 9" descr="grafik(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07" y="1828800"/>
            <a:ext cx="3022181" cy="1572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1499616"/>
            <a:ext cx="4796028" cy="228600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B7C2D2"/>
                </a:solidFill>
                <a:latin typeface="Aptos"/>
              </a:rPr>
              <a:t>1. Menü „Hinzufügen“</a:t>
            </a:r>
          </a:p>
        </p:txBody>
      </p:sp>
      <p:pic>
        <p:nvPicPr>
          <p:cNvPr id="12" name="Picture 11" descr="grafik(1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055" y="4023360"/>
            <a:ext cx="3040684" cy="1572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384" y="3721608"/>
            <a:ext cx="4796028" cy="228600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B7C2D2"/>
                </a:solidFill>
                <a:latin typeface="Aptos"/>
              </a:rPr>
              <a:t>2. Eintrag auswählen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0820" y="1572768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PLUGIN-VERWALTUNG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5956" y="1755648"/>
            <a:ext cx="4997196" cy="521207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3972" y="1796795"/>
            <a:ext cx="4741164" cy="443483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AFBFD"/>
                </a:solidFill>
                <a:latin typeface="Aptos"/>
              </a:rPr>
              <a:t>https://chatgpt.com/plugins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482596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MENÜ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05956" y="2665476"/>
            <a:ext cx="4997196" cy="457200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3972" y="2706624"/>
            <a:ext cx="4741164" cy="379476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AFBFD"/>
                </a:solidFill>
                <a:latin typeface="Aptos"/>
              </a:rPr>
              <a:t>Hinzufügen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0820" y="3328416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MENÜEINTRAG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05956" y="3511296"/>
            <a:ext cx="4997196" cy="658368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3972" y="3552444"/>
            <a:ext cx="4741164" cy="580644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FAFBFD"/>
                </a:solidFill>
                <a:latin typeface="Aptos"/>
              </a:rPr>
              <a:t>Benutzerdefinierten MCP-Server hinzufügen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05956" y="4421124"/>
            <a:ext cx="4997196" cy="667512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05956" y="4512564"/>
            <a:ext cx="32004" cy="484632"/>
          </a:xfrm>
          <a:prstGeom prst="rect">
            <a:avLst/>
          </a:prstGeom>
          <a:solidFill>
            <a:srgbClr val="54B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3116" y="4466844"/>
            <a:ext cx="4741164" cy="576072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B7C2D2"/>
                </a:solidFill>
                <a:latin typeface="Aptos"/>
              </a:rPr>
              <a:t>Über „Hinzufügen“ die Erstellung eines benutzerdefinierten MCP-Servers öffnen.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1024128"/>
            <a:ext cx="5527548" cy="539496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0780" y="1024128"/>
            <a:ext cx="5527548" cy="5394960"/>
          </a:xfrm>
          <a:prstGeom prst="roundRect">
            <a:avLst>
              <a:gd name="adj" fmla="val 8000"/>
            </a:avLst>
          </a:prstGeom>
          <a:solidFill>
            <a:srgbClr val="1D222D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173736"/>
            <a:ext cx="59436" cy="521207"/>
          </a:xfrm>
          <a:prstGeom prst="rect">
            <a:avLst/>
          </a:prstGeom>
          <a:solidFill>
            <a:srgbClr val="8F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46304"/>
            <a:ext cx="9966960" cy="38404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FAFBFD"/>
                </a:solidFill>
                <a:latin typeface="Aptos"/>
              </a:rPr>
              <a:t>AskAI – allgemeine Angaben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48640"/>
            <a:ext cx="9784080" cy="24688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B7C2D2"/>
                </a:solidFill>
                <a:latin typeface="Aptos"/>
              </a:rPr>
              <a:t>AskAI-Test: Formularfelder zum Kopieren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43616" y="265176"/>
            <a:ext cx="1051560" cy="320040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C98AB"/>
                </a:solidFill>
                <a:latin typeface="Aptos"/>
              </a:rPr>
              <a:t>02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33856"/>
            <a:ext cx="4297680" cy="237744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8C98AB"/>
                </a:solidFill>
                <a:latin typeface="Aptos"/>
              </a:rPr>
              <a:t>ASKAI-TEST · ORIGINAL-SCREENSHOT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956" y="1133856"/>
            <a:ext cx="4937760" cy="237744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8AB"/>
                </a:solidFill>
                <a:latin typeface="Aptos"/>
              </a:rPr>
              <a:t>KOPIERBARE EINSTELLUNGEN</a:t>
            </a:r>
          </a:p>
        </p:txBody>
      </p:sp>
      <p:pic>
        <p:nvPicPr>
          <p:cNvPr id="10" name="Picture 9" descr="grafik(20261021-18461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463" y="1472184"/>
            <a:ext cx="3077298" cy="4672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60820" y="1481328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ICON (OPTIONAL)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05956" y="1664208"/>
            <a:ext cx="4997196" cy="384048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33972" y="1705356"/>
            <a:ext cx="4741164" cy="306323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FAFBFD"/>
                </a:solidFill>
                <a:latin typeface="Aptos"/>
              </a:rPr>
              <a:t>Optional: eigenes AskAI-Icon verwenden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0820" y="2107692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5956" y="2290572"/>
            <a:ext cx="4997196" cy="365760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3972" y="2331720"/>
            <a:ext cx="4741164" cy="288036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AFBFD"/>
                </a:solidFill>
                <a:latin typeface="Aptos"/>
              </a:rPr>
              <a:t>AskAI-Test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715768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BESCHREIBUNG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05956" y="2898648"/>
            <a:ext cx="4997196" cy="987552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3972" y="2939796"/>
            <a:ext cx="4741164" cy="90982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AFBFD"/>
                </a:solidFill>
                <a:latin typeface="Aptos"/>
              </a:rPr>
              <a:t>AskAI verbindet ChatGPT mit der Forschungs- und Agentensteuerung. Über MCP lassen sich Sitzungen verwalten, Befehle ausführen und Chatverläufe abrufen.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0820" y="3954779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VERBINDUNG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05956" y="4137659"/>
            <a:ext cx="4997196" cy="356616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3972" y="4178807"/>
            <a:ext cx="4741164" cy="2788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FAFBFD"/>
                </a:solidFill>
                <a:latin typeface="Aptos"/>
              </a:rPr>
              <a:t>https://askai.aresstack.de/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0820" y="4608576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AUTHENTIFIZIERUNG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05956" y="4791456"/>
            <a:ext cx="4997196" cy="365760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3972" y="4837176"/>
            <a:ext cx="4741164" cy="288036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AFBFD"/>
                </a:solidFill>
                <a:latin typeface="Aptos"/>
              </a:rPr>
              <a:t>OAuth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05956" y="5449824"/>
            <a:ext cx="4997196" cy="484632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05956" y="5541264"/>
            <a:ext cx="32004" cy="301752"/>
          </a:xfrm>
          <a:prstGeom prst="rect">
            <a:avLst/>
          </a:prstGeom>
          <a:solidFill>
            <a:srgbClr val="8F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3116" y="5495544"/>
            <a:ext cx="4741164" cy="393192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7C2D2"/>
                </a:solidFill>
                <a:latin typeface="Aptos"/>
              </a:rPr>
              <a:t>Verbindungsart „Server-URL“ wählen. Die HTTPS-Adresse direkt unter „Verbindung“ eingeben.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0780" y="1024128"/>
            <a:ext cx="5527548" cy="539496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1024128"/>
            <a:ext cx="5527548" cy="5394960"/>
          </a:xfrm>
          <a:prstGeom prst="roundRect">
            <a:avLst>
              <a:gd name="adj" fmla="val 8000"/>
            </a:avLst>
          </a:prstGeom>
          <a:solidFill>
            <a:srgbClr val="1D222D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173736"/>
            <a:ext cx="59436" cy="521207"/>
          </a:xfrm>
          <a:prstGeom prst="rect">
            <a:avLst/>
          </a:prstGeom>
          <a:solidFill>
            <a:srgbClr val="8F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46304"/>
            <a:ext cx="9966960" cy="38404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FAFBFD"/>
                </a:solidFill>
                <a:latin typeface="Aptos"/>
              </a:rPr>
              <a:t>AskAI – OAuth-Client und Callback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48640"/>
            <a:ext cx="9784080" cy="24688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B7C2D2"/>
                </a:solidFill>
                <a:latin typeface="Aptos"/>
              </a:rPr>
              <a:t>Benutzerdefinierten OAuth-Client konfigurieren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43616" y="265176"/>
            <a:ext cx="1051560" cy="320040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C98AB"/>
                </a:solidFill>
                <a:latin typeface="Aptos"/>
              </a:rPr>
              <a:t>03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956" y="1133856"/>
            <a:ext cx="4297680" cy="237744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8C98AB"/>
                </a:solidFill>
                <a:latin typeface="Aptos"/>
              </a:rPr>
              <a:t>ASKAI-TEST · ORIGINAL-SCREENSHOT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33856"/>
            <a:ext cx="4937760" cy="237744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8AB"/>
                </a:solidFill>
                <a:latin typeface="Aptos"/>
              </a:rPr>
              <a:t>KOPIERBARE EINSTELLUNGEN</a:t>
            </a:r>
          </a:p>
        </p:txBody>
      </p:sp>
      <p:pic>
        <p:nvPicPr>
          <p:cNvPr id="10" name="Picture 9" descr="grafik(20261021-18472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792" y="1472184"/>
            <a:ext cx="3162095" cy="4672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0664" y="1508760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REGISTRIERUNGSMETHODE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691639"/>
            <a:ext cx="4997196" cy="420624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1732787"/>
            <a:ext cx="4741164" cy="342900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FAFBFD"/>
                </a:solidFill>
                <a:latin typeface="Aptos"/>
              </a:rPr>
              <a:t>Benutzerdefinierter OAuth-Client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263140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CALLBACK-URL (VON CHATGPT ERZEUGT)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446020"/>
            <a:ext cx="4997196" cy="576072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2487168"/>
            <a:ext cx="4741164" cy="49834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FAFBFD"/>
                </a:solidFill>
                <a:latin typeface="Aptos"/>
              </a:rPr>
              <a:t>Von ChatGPT automatisch erzeugt – aktuellen Wert unverändert lassen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3145536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OAUTH-CLIENT-ID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28416"/>
            <a:ext cx="4997196" cy="365760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3369564"/>
            <a:ext cx="4741164" cy="288036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AFBFD"/>
                </a:solidFill>
                <a:latin typeface="Aptos"/>
              </a:rPr>
              <a:t>askai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3817620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GEHEIMER OAUTH-CLIENTSCHLÜSSEL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00500"/>
            <a:ext cx="4997196" cy="384048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4041648"/>
            <a:ext cx="4741164" cy="306323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B7C2D2"/>
                </a:solidFill>
                <a:latin typeface="Aptos"/>
              </a:rPr>
              <a:t>change-me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4507992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TOKEN-ENDPUNKT: AUTHENTIFIZIERUNGSMETHODE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90871"/>
            <a:ext cx="4997196" cy="402336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732019"/>
            <a:ext cx="4741164" cy="32461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FAFBFD"/>
                </a:solidFill>
                <a:latin typeface="Consolas"/>
              </a:rPr>
              <a:t>client_secret_post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244083"/>
            <a:ext cx="4997196" cy="63093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335523"/>
            <a:ext cx="32004" cy="448055"/>
          </a:xfrm>
          <a:prstGeom prst="rect">
            <a:avLst/>
          </a:prstGeom>
          <a:solidFill>
            <a:srgbClr val="F2B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289803"/>
            <a:ext cx="4741164" cy="539496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B7C2D2"/>
                </a:solidFill>
                <a:latin typeface="Aptos"/>
              </a:rPr>
              <a:t>Code-Default: change-me (nur für Tests). Bei eigenem Secret dessen Wert verwenden. Callback-URL von ChatGPT übernehmen.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0780" y="1024128"/>
            <a:ext cx="5527548" cy="539496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1024128"/>
            <a:ext cx="5527548" cy="5394960"/>
          </a:xfrm>
          <a:prstGeom prst="roundRect">
            <a:avLst>
              <a:gd name="adj" fmla="val 8000"/>
            </a:avLst>
          </a:prstGeom>
          <a:solidFill>
            <a:srgbClr val="1D222D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173736"/>
            <a:ext cx="59436" cy="521207"/>
          </a:xfrm>
          <a:prstGeom prst="rect">
            <a:avLst/>
          </a:prstGeom>
          <a:solidFill>
            <a:srgbClr val="8F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46304"/>
            <a:ext cx="9966960" cy="38404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FAFBFD"/>
                </a:solidFill>
                <a:latin typeface="Aptos"/>
              </a:rPr>
              <a:t>AskAI – OAuth-Berechtigungsbereiche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48640"/>
            <a:ext cx="9784080" cy="24688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B7C2D2"/>
                </a:solidFill>
                <a:latin typeface="Aptos"/>
              </a:rPr>
              <a:t>Basis-Scope für den AskAI-MCP-Zugang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43616" y="265176"/>
            <a:ext cx="1051560" cy="320040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C98AB"/>
                </a:solidFill>
                <a:latin typeface="Aptos"/>
              </a:rPr>
              <a:t>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956" y="1133856"/>
            <a:ext cx="4297680" cy="237744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8C98AB"/>
                </a:solidFill>
                <a:latin typeface="Aptos"/>
              </a:rPr>
              <a:t>ASKAI-TEST · ORIGINAL-SCREENSHOT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33856"/>
            <a:ext cx="4937760" cy="237744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8AB"/>
                </a:solidFill>
                <a:latin typeface="Aptos"/>
              </a:rPr>
              <a:t>KOPIERBARE EINSTELLUNGEN</a:t>
            </a:r>
          </a:p>
        </p:txBody>
      </p:sp>
      <p:pic>
        <p:nvPicPr>
          <p:cNvPr id="10" name="Picture 9" descr="grafik(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809" y="1472184"/>
            <a:ext cx="3748062" cy="4672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0664" y="1673352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STANDARD-SCOPES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56232"/>
            <a:ext cx="4997196" cy="576072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1897380"/>
            <a:ext cx="4741164" cy="498348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7C2D2"/>
                </a:solidFill>
                <a:latin typeface="Aptos"/>
              </a:rPr>
              <a:t>(leer)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702052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BASIS-SCOPES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84932"/>
            <a:ext cx="4997196" cy="612648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4741164" cy="534924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AFBFD"/>
                </a:solidFill>
                <a:latin typeface="Consolas"/>
              </a:rPr>
              <a:t>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67912"/>
            <a:ext cx="4997196" cy="941832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959352"/>
            <a:ext cx="32004" cy="758952"/>
          </a:xfrm>
          <a:prstGeom prst="rect">
            <a:avLst/>
          </a:prstGeom>
          <a:solidFill>
            <a:srgbClr val="54B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13632"/>
            <a:ext cx="4741164" cy="850392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7C2D2"/>
                </a:solidFill>
                <a:latin typeface="Aptos"/>
              </a:rPr>
              <a:t>Der Basis-Scope „mcp“ wird bei jeder Autorisierungsanfrage angefordert; Standard-Scopes leer lassen.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0780" y="1024128"/>
            <a:ext cx="5527548" cy="539496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1024128"/>
            <a:ext cx="5527548" cy="5394960"/>
          </a:xfrm>
          <a:prstGeom prst="roundRect">
            <a:avLst>
              <a:gd name="adj" fmla="val 8000"/>
            </a:avLst>
          </a:prstGeom>
          <a:solidFill>
            <a:srgbClr val="1D222D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173736"/>
            <a:ext cx="59436" cy="521207"/>
          </a:xfrm>
          <a:prstGeom prst="rect">
            <a:avLst/>
          </a:prstGeom>
          <a:solidFill>
            <a:srgbClr val="8F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46304"/>
            <a:ext cx="9966960" cy="38404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FAFBFD"/>
                </a:solidFill>
                <a:latin typeface="Aptos"/>
              </a:rPr>
              <a:t>AskAI – OAuth-Endpunkte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48640"/>
            <a:ext cx="9784080" cy="24688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B7C2D2"/>
                </a:solidFill>
                <a:latin typeface="Aptos"/>
              </a:rPr>
              <a:t>Endpunkte und Resource laut AskAI-arch-Branch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43616" y="265176"/>
            <a:ext cx="1051560" cy="320040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C98AB"/>
                </a:solidFill>
                <a:latin typeface="Aptos"/>
              </a:rPr>
              <a:t>05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956" y="1133856"/>
            <a:ext cx="4297680" cy="237744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8C98AB"/>
                </a:solidFill>
                <a:latin typeface="Aptos"/>
              </a:rPr>
              <a:t>ASKAI-TEST · ORIGINAL-SCREENSHOT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33856"/>
            <a:ext cx="4937760" cy="237744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8AB"/>
                </a:solidFill>
                <a:latin typeface="Aptos"/>
              </a:rPr>
              <a:t>KOPIERBARE EINSTELLUNGEN</a:t>
            </a:r>
          </a:p>
        </p:txBody>
      </p:sp>
      <p:pic>
        <p:nvPicPr>
          <p:cNvPr id="10" name="Picture 9" descr="grafik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675" y="1472184"/>
            <a:ext cx="4160330" cy="4672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0664" y="1490472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AUTORISIERUNGS-URL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673351"/>
            <a:ext cx="4997196" cy="420624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1714499"/>
            <a:ext cx="4741164" cy="342900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AFBFD"/>
                </a:solidFill>
                <a:latin typeface="Aptos"/>
              </a:rPr>
              <a:t>https://askai.aresstack.de/oauth/authorize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176272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TOKEN-URL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59152"/>
            <a:ext cx="4997196" cy="420624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2400300"/>
            <a:ext cx="4741164" cy="342900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AFBFD"/>
                </a:solidFill>
                <a:latin typeface="Aptos"/>
              </a:rPr>
              <a:t>https://askai.aresstack.de/oauth/token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862072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REGISTRIERUNGS-URL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44952"/>
            <a:ext cx="4997196" cy="365760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3086100"/>
            <a:ext cx="4741164" cy="288036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2D2"/>
                </a:solidFill>
                <a:latin typeface="Aptos"/>
              </a:rPr>
              <a:t>(leer)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3493008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BASIS-URL DES AUTORISIERUNGSSERVERS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75888"/>
            <a:ext cx="4997196" cy="393192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3717036"/>
            <a:ext cx="4741164" cy="31546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AFBFD"/>
                </a:solidFill>
                <a:latin typeface="Aptos"/>
              </a:rPr>
              <a:t>https://askai.aresstack.de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4151376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RESOURCE (AKTUELLER ARCH-BRANCH)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334255"/>
            <a:ext cx="4997196" cy="393192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375403"/>
            <a:ext cx="4741164" cy="31546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AFBFD"/>
                </a:solidFill>
                <a:latin typeface="Aptos"/>
              </a:rPr>
              <a:t>https://askai.aresstack.de/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0891"/>
            <a:ext cx="4997196" cy="557784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942331"/>
            <a:ext cx="32004" cy="374904"/>
          </a:xfrm>
          <a:prstGeom prst="rect">
            <a:avLst/>
          </a:prstGeom>
          <a:solidFill>
            <a:srgbClr val="F2B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896611"/>
            <a:ext cx="4741164" cy="466344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B7C2D2"/>
                </a:solidFill>
                <a:latin typeface="Aptos"/>
              </a:rPr>
              <a:t>Die AskAI-Implementierung meldet die Resource mit / am Ende. Die Registrierungs-URL bleibt leer (fester OAuth-Client).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0780" y="1024128"/>
            <a:ext cx="5527548" cy="539496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1024128"/>
            <a:ext cx="5527548" cy="5394960"/>
          </a:xfrm>
          <a:prstGeom prst="roundRect">
            <a:avLst>
              <a:gd name="adj" fmla="val 8000"/>
            </a:avLst>
          </a:prstGeom>
          <a:solidFill>
            <a:srgbClr val="1D222D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173736"/>
            <a:ext cx="59436" cy="521207"/>
          </a:xfrm>
          <a:prstGeom prst="rect">
            <a:avLst/>
          </a:prstGeom>
          <a:solidFill>
            <a:srgbClr val="8F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46304"/>
            <a:ext cx="9966960" cy="38404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FAFBFD"/>
                </a:solidFill>
                <a:latin typeface="Aptos"/>
              </a:rPr>
              <a:t>AskAI – PKCE und OpenID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48640"/>
            <a:ext cx="9784080" cy="24688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B7C2D2"/>
                </a:solidFill>
                <a:latin typeface="Aptos"/>
              </a:rPr>
              <a:t>Sicherheitsoptionen des AskAI-OAuth-Servers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43616" y="265176"/>
            <a:ext cx="1051560" cy="320040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C98AB"/>
                </a:solidFill>
                <a:latin typeface="Aptos"/>
              </a:rPr>
              <a:t>06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956" y="1133856"/>
            <a:ext cx="4297680" cy="237744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8C98AB"/>
                </a:solidFill>
                <a:latin typeface="Aptos"/>
              </a:rPr>
              <a:t>ASKAI-TEST · ORIGINAL-SCREENSHOT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33856"/>
            <a:ext cx="4937760" cy="237744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8AB"/>
                </a:solidFill>
                <a:latin typeface="Aptos"/>
              </a:rPr>
              <a:t>KOPIERBARE EINSTELLUNGEN</a:t>
            </a:r>
          </a:p>
        </p:txBody>
      </p:sp>
      <p:pic>
        <p:nvPicPr>
          <p:cNvPr id="10" name="Picture 9" descr="grafik(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721" y="1472184"/>
            <a:ext cx="3718237" cy="4672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0664" y="1645920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SERVER UNTERSTÜTZT PKCE (S256)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28800"/>
            <a:ext cx="4997196" cy="493776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1869948"/>
            <a:ext cx="4741164" cy="41605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AFBFD"/>
                </a:solidFill>
                <a:latin typeface="Aptos"/>
              </a:rPr>
              <a:t>Aktiviert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519172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OIDC AKTIVIERT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02052"/>
            <a:ext cx="4997196" cy="493776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2743200"/>
            <a:ext cx="4741164" cy="41605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AFBFD"/>
                </a:solidFill>
                <a:latin typeface="Aptos"/>
              </a:rPr>
              <a:t>Nein / deaktiviert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3392424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OIDC-KONFIGURATIONS-URL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75304"/>
            <a:ext cx="4997196" cy="429768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3616452"/>
            <a:ext cx="4741164" cy="352043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7C2D2"/>
                </a:solidFill>
                <a:latin typeface="Aptos"/>
              </a:rPr>
              <a:t>(leer)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4174236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OIDC-USERINFO-ENDPUNKT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57116"/>
            <a:ext cx="4997196" cy="429768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4398264"/>
            <a:ext cx="4741164" cy="352043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7C2D2"/>
                </a:solidFill>
                <a:latin typeface="Aptos"/>
              </a:rPr>
              <a:t>(leer)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4956047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UNTERSTÜTZTE OIDC-SCOPES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138927"/>
            <a:ext cx="4997196" cy="429768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5180075"/>
            <a:ext cx="4741164" cy="352043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7C2D2"/>
                </a:solidFill>
                <a:latin typeface="Aptos"/>
              </a:rPr>
              <a:t>(leer)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747003"/>
            <a:ext cx="4997196" cy="576072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838443"/>
            <a:ext cx="32004" cy="393192"/>
          </a:xfrm>
          <a:prstGeom prst="rect">
            <a:avLst/>
          </a:prstGeom>
          <a:solidFill>
            <a:srgbClr val="8F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792723"/>
            <a:ext cx="4741164" cy="484632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B7C2D2"/>
                </a:solidFill>
                <a:latin typeface="Aptos"/>
              </a:rPr>
              <a:t>AskAI unterstützt PKCE S256. OIDC bleibt deaktiviert; die zugehörigen Zusatzfelder leer lassen.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1024128"/>
            <a:ext cx="5527548" cy="539496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0780" y="1024128"/>
            <a:ext cx="5527548" cy="5394960"/>
          </a:xfrm>
          <a:prstGeom prst="roundRect">
            <a:avLst>
              <a:gd name="adj" fmla="val 8000"/>
            </a:avLst>
          </a:prstGeom>
          <a:solidFill>
            <a:srgbClr val="1D222D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173736"/>
            <a:ext cx="59436" cy="521207"/>
          </a:xfrm>
          <a:prstGeom prst="rect">
            <a:avLst/>
          </a:prstGeom>
          <a:solidFill>
            <a:srgbClr val="8F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46304"/>
            <a:ext cx="9966960" cy="38404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FAFBFD"/>
                </a:solidFill>
                <a:latin typeface="Aptos"/>
              </a:rPr>
              <a:t>AskAI – Verbindung abschließen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48640"/>
            <a:ext cx="9784080" cy="246888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B7C2D2"/>
                </a:solidFill>
                <a:latin typeface="Aptos"/>
              </a:rPr>
              <a:t>Risiko bestätigen und AskAI-Testconnector erstellen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43616" y="265176"/>
            <a:ext cx="1051560" cy="320040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C98AB"/>
                </a:solidFill>
                <a:latin typeface="Aptos"/>
              </a:rPr>
              <a:t>07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33856"/>
            <a:ext cx="4297680" cy="237744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8C98AB"/>
                </a:solidFill>
                <a:latin typeface="Aptos"/>
              </a:rPr>
              <a:t>ASKAI-TEST · ORIGINAL-SCREENSHOT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956" y="1133856"/>
            <a:ext cx="4937760" cy="237744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C98AB"/>
                </a:solidFill>
                <a:latin typeface="Aptos"/>
              </a:rPr>
              <a:t>KOPIERBARE EINSTELLUNGEN</a:t>
            </a:r>
          </a:p>
        </p:txBody>
      </p:sp>
      <p:pic>
        <p:nvPicPr>
          <p:cNvPr id="10" name="Picture 9" descr="grafik(20261021-19073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20121"/>
            <a:ext cx="5175504" cy="29767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60820" y="1527048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ERWEITERTE OAUTH-EINSTELLUNGEN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05956" y="1709928"/>
            <a:ext cx="4997196" cy="438912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33972" y="1751075"/>
            <a:ext cx="4741164" cy="361187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FBFD"/>
                </a:solidFill>
                <a:latin typeface="Aptos"/>
              </a:rPr>
              <a:t>Nach Prüfung schließen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0820" y="2318003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SICHERHEITSHINWEIS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5956" y="2500884"/>
            <a:ext cx="4997196" cy="557784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3972" y="2542032"/>
            <a:ext cx="4741164" cy="480060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FAFBFD"/>
                </a:solidFill>
                <a:latin typeface="Aptos"/>
              </a:rPr>
              <a:t>Benutzerdefinierte MCP-Server bergen Risiken.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3227832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BESTÄTIGUNG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05956" y="3410712"/>
            <a:ext cx="4997196" cy="621792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3972" y="3451860"/>
            <a:ext cx="4741164" cy="544068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FAFBFD"/>
                </a:solidFill>
                <a:latin typeface="Aptos"/>
              </a:rPr>
              <a:t>Ich habe das verstanden und möchte weitermachen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0820" y="4201668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KONTROLLKÄSTCHEN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05956" y="4384548"/>
            <a:ext cx="4997196" cy="448056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3972" y="4425696"/>
            <a:ext cx="4741164" cy="37033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FAFBFD"/>
                </a:solidFill>
                <a:latin typeface="Aptos"/>
              </a:rPr>
              <a:t>Aktiviert / Häkchen gesetzt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0820" y="5001768"/>
            <a:ext cx="4887468" cy="164592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B7C2D2"/>
                </a:solidFill>
                <a:latin typeface="Aptos"/>
              </a:rPr>
              <a:t>ABSCHLUSS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05956" y="5184648"/>
            <a:ext cx="4997196" cy="484632"/>
          </a:xfrm>
          <a:prstGeom prst="roundRect">
            <a:avLst>
              <a:gd name="adj" fmla="val 8000"/>
            </a:avLst>
          </a:prstGeom>
          <a:solidFill>
            <a:srgbClr val="282E39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3972" y="5225796"/>
            <a:ext cx="4741164" cy="406908"/>
          </a:xfrm>
          <a:prstGeom prst="rect">
            <a:avLst/>
          </a:prstGeom>
          <a:noFill/>
        </p:spPr>
        <p:txBody>
          <a:bodyPr wrap="square" lIns="0" rIns="0" tIns="22860" bIns="2286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FAFBFD"/>
                </a:solidFill>
                <a:latin typeface="Aptos"/>
              </a:rPr>
              <a:t>Als Plugin erstellen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05956" y="5884164"/>
            <a:ext cx="4997196" cy="72237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8890">
            <a:solidFill>
              <a:srgbClr val="42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05956" y="5975603"/>
            <a:ext cx="32004" cy="539496"/>
          </a:xfrm>
          <a:prstGeom prst="rect">
            <a:avLst/>
          </a:prstGeom>
          <a:solidFill>
            <a:srgbClr val="F2B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5929883"/>
            <a:ext cx="4741164" cy="630936"/>
          </a:xfrm>
          <a:prstGeom prst="rect">
            <a:avLst/>
          </a:prstGeom>
          <a:noFill/>
        </p:spPr>
        <p:txBody>
          <a:bodyPr wrap="square" lIns="0" rIns="0" tIns="22860" bIns="2286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B7C2D2"/>
                </a:solidFill>
                <a:latin typeface="Aptos"/>
              </a:rPr>
              <a:t>Nach dem Erstellen OAuth autorisieren und prüfen, ob AskAI-Werkzeuge wie „session_state“, „chat_history“ und „run_command“ erkannt werden.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